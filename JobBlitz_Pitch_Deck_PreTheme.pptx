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0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9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65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02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34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43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6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85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0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00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59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16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75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5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2F3C7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4480560"/>
            <a:ext cx="4206240" cy="4206240"/>
          </a:xfrm>
          <a:prstGeom prst="ellipse">
            <a:avLst/>
          </a:prstGeom>
          <a:solidFill>
            <a:srgbClr val="F9564F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966960" y="5120640"/>
            <a:ext cx="1463040" cy="1463040"/>
          </a:xfrm>
          <a:prstGeom prst="ellipse">
            <a:avLst/>
          </a:prstGeom>
          <a:solidFill>
            <a:srgbClr val="CADCFC">
              <a:alpha val="3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55768" y="960120"/>
            <a:ext cx="1280160" cy="128016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6" name="Image 0" descr="/home/claude/jobblitz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51460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JOB BLITZ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command center for your job search.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ea typeface="Calibri" panose="020F0502020204030204" pitchFamily="34" charset="-122"/>
                <a:cs typeface="+mn-lt"/>
              </a:rPr>
              <a:t>From job description to job offer </a:t>
            </a:r>
            <a:r>
              <a:rPr lang="en-US" sz="1300" i="1" dirty="0" smtClean="0">
                <a:solidFill>
                  <a:srgbClr val="FFFFFF">
                    <a:alpha val="85000"/>
                  </a:srgbClr>
                </a:solidFill>
                <a:ea typeface="Calibri" panose="020F0502020204030204" pitchFamily="34" charset="-122"/>
                <a:cs typeface="+mn-lt"/>
              </a:rPr>
              <a:t>- </a:t>
            </a:r>
            <a:r>
              <a:rPr lang="en-US" sz="1300" i="1" dirty="0">
                <a:solidFill>
                  <a:srgbClr val="FFFFFF">
                    <a:alpha val="85000"/>
                  </a:srgbClr>
                </a:solidFill>
                <a:ea typeface="Calibri" panose="020F0502020204030204" pitchFamily="34" charset="-122"/>
                <a:cs typeface="+mn-lt"/>
              </a:rPr>
              <a:t>one intelligent workflow.</a:t>
            </a:r>
            <a:endParaRPr lang="en-US" sz="1300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IMPACT · THE SCALE OF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Job hunting has become a numbers game </a:t>
            </a:r>
            <a:r>
              <a:rPr lang="en-US" sz="2700" b="1" dirty="0" smtClean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 </a:t>
            </a: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the odds are brutal.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sent, on average, before a job seeker gets an offer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622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Career.IO,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79392" y="21488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79392" y="246888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56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~3%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34747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applications ever make it to an interview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44622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CareerPlug, 10M+ applications,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10144" y="21488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10144" y="246888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74%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4747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applications receive no response at all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44622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TurboResume, 2026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02352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bottleneck isn't effort. It's fragmentation.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job application touches nine disconnected steps.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0120" y="3703320"/>
            <a:ext cx="10271455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493008"/>
            <a:ext cx="420624" cy="42062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" y="246888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 smtClean="0"/>
              <a:t>Select Job from Pool/ Scan any Job Poster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2033740" y="3493008"/>
            <a:ext cx="420624" cy="420624"/>
          </a:xfrm>
          <a:prstGeom prst="ellipse">
            <a:avLst/>
          </a:prstGeom>
          <a:solidFill>
            <a:srgbClr val="F956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33740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35392" y="411480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/>
              <a:t>Read JD fetched from official Postings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3317672" y="3493008"/>
            <a:ext cx="420624" cy="42062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7672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19324" y="246888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by Job-Blitz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1604" y="3493008"/>
            <a:ext cx="420624" cy="420624"/>
          </a:xfrm>
          <a:prstGeom prst="ellipse">
            <a:avLst/>
          </a:prstGeom>
          <a:solidFill>
            <a:srgbClr val="F956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1604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03256" y="411480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/>
              <a:t>Checks Fit to the role automatically by user Uploaded resumes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5885536" y="3493008"/>
            <a:ext cx="420624" cy="42062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85536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87188" y="246888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 smtClean="0"/>
              <a:t>Job Blitz Evaluates and Identifies the skill gaps</a:t>
            </a:r>
            <a:endParaRPr lang="en-US" sz="1100" b="1" dirty="0"/>
          </a:p>
        </p:txBody>
      </p:sp>
      <p:sp>
        <p:nvSpPr>
          <p:cNvPr id="20" name="Shape 18"/>
          <p:cNvSpPr/>
          <p:nvPr/>
        </p:nvSpPr>
        <p:spPr>
          <a:xfrm>
            <a:off x="7169467" y="3493008"/>
            <a:ext cx="420624" cy="420624"/>
          </a:xfrm>
          <a:prstGeom prst="ellipse">
            <a:avLst/>
          </a:prstGeom>
          <a:solidFill>
            <a:srgbClr val="F956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69467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71964" y="4055363"/>
            <a:ext cx="1615631" cy="877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/>
              <a:t>Gives Readiness Score</a:t>
            </a:r>
          </a:p>
          <a:p>
            <a:pPr marL="0" indent="0" algn="ctr">
              <a:buNone/>
            </a:pPr>
            <a:r>
              <a:rPr lang="en-US" sz="1100" b="1" dirty="0" smtClean="0"/>
              <a:t>For that role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8453399" y="3493008"/>
            <a:ext cx="420624" cy="42062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3399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53377" y="2326821"/>
            <a:ext cx="1648892" cy="965019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ctr"/>
            <a:r>
              <a:rPr lang="en-US" sz="1100" b="1" dirty="0" smtClean="0"/>
              <a:t>Our Job-Blitz AI specially gives Prep </a:t>
            </a:r>
            <a:r>
              <a:rPr lang="en-US" sz="1100" b="1" dirty="0"/>
              <a:t>Plan, Insights from Shortlisted Candidates, Expected Questions </a:t>
            </a:r>
            <a:r>
              <a:rPr lang="en-US" sz="1100" b="1" dirty="0" smtClean="0"/>
              <a:t>for Interview for selected Job role</a:t>
            </a:r>
          </a:p>
        </p:txBody>
      </p:sp>
      <p:sp>
        <p:nvSpPr>
          <p:cNvPr id="26" name="Shape 24"/>
          <p:cNvSpPr/>
          <p:nvPr/>
        </p:nvSpPr>
        <p:spPr>
          <a:xfrm>
            <a:off x="9737331" y="3493008"/>
            <a:ext cx="420624" cy="420624"/>
          </a:xfrm>
          <a:prstGeom prst="ellipse">
            <a:avLst/>
          </a:prstGeom>
          <a:solidFill>
            <a:srgbClr val="F956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37331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38983" y="411480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/>
              <a:t>Matches current user resume to JD </a:t>
            </a:r>
            <a:endParaRPr lang="en-US" sz="1100" b="1" dirty="0"/>
          </a:p>
        </p:txBody>
      </p:sp>
      <p:sp>
        <p:nvSpPr>
          <p:cNvPr id="29" name="Shape 27"/>
          <p:cNvSpPr/>
          <p:nvPr/>
        </p:nvSpPr>
        <p:spPr>
          <a:xfrm>
            <a:off x="11021263" y="3493008"/>
            <a:ext cx="420624" cy="42062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021263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22915" y="246888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Visually Tracks </a:t>
            </a: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</a:t>
            </a:r>
            <a:r>
              <a:rPr lang="en-US" sz="1100" b="1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the application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step usually means a different tab, tool, or spreadsheet </a:t>
            </a:r>
            <a:r>
              <a:rPr lang="en-US" sz="1400" dirty="0" smtClean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40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for every single role.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NOVELTY · WHY WE BUILT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tools solve one step. None solve the workflow.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172200" y="1260239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548640" y="1197210"/>
            <a:ext cx="5394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TOOLS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198843"/>
            <a:ext cx="5394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BLITZ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6172200" y="28254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9EEFC"/>
          </a:solidFill>
        </p:spPr>
      </p:sp>
      <p:sp>
        <p:nvSpPr>
          <p:cNvPr id="10" name="Text 8"/>
          <p:cNvSpPr txBox="1"/>
          <p:nvPr/>
        </p:nvSpPr>
        <p:spPr>
          <a:xfrm>
            <a:off x="804672" y="2898648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
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step at a time 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or a resume, or a tracker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898648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entire pipeline, start to finish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FF2FA"/>
          </a:solidFill>
        </p:spPr>
      </p:sp>
      <p:sp>
        <p:nvSpPr>
          <p:cNvPr id="13" name="Shape 11"/>
          <p:cNvSpPr/>
          <p:nvPr/>
        </p:nvSpPr>
        <p:spPr>
          <a:xfrm>
            <a:off x="6172200" y="377647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9EEFC"/>
          </a:solidFill>
        </p:spPr>
      </p:sp>
      <p:sp>
        <p:nvSpPr>
          <p:cNvPr id="14" name="Text 12"/>
          <p:cNvSpPr txBox="1"/>
          <p:nvPr/>
        </p:nvSpPr>
        <p:spPr>
          <a:xfrm>
            <a:off x="804672" y="3849624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Personalization
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keyword matching against a job title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849624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fit &amp; readiness scores, per role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6172200" y="472744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9EEFC"/>
          </a:solidFill>
        </p:spPr>
      </p:sp>
      <p:sp>
        <p:nvSpPr>
          <p:cNvPr id="18" name="Text 16"/>
          <p:cNvSpPr txBox="1"/>
          <p:nvPr/>
        </p:nvSpPr>
        <p:spPr>
          <a:xfrm>
            <a:off x="804672" y="4800600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runs
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dashboard, desktop-only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4800600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Mobile-first, with a purpose-built backend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78424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FF2FA"/>
          </a:solidFill>
        </p:spPr>
      </p:sp>
      <p:sp>
        <p:nvSpPr>
          <p:cNvPr id="21" name="Shape 19"/>
          <p:cNvSpPr/>
          <p:nvPr/>
        </p:nvSpPr>
        <p:spPr>
          <a:xfrm>
            <a:off x="6172200" y="5678424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9EEFC"/>
          </a:solidFill>
        </p:spPr>
      </p:sp>
      <p:sp>
        <p:nvSpPr>
          <p:cNvPr id="22" name="Text 20"/>
          <p:cNvSpPr txBox="1"/>
          <p:nvPr/>
        </p:nvSpPr>
        <p:spPr>
          <a:xfrm>
            <a:off x="804672" y="5751576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
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 of jobs, or a formatted document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5751576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ready-to-act application workspace</a:t>
            </a:r>
            <a:endParaRPr lang="en-US" sz="1250" dirty="0"/>
          </a:p>
        </p:txBody>
      </p:sp>
      <p:sp>
        <p:nvSpPr>
          <p:cNvPr id="25" name="Shape 6"/>
          <p:cNvSpPr/>
          <p:nvPr/>
        </p:nvSpPr>
        <p:spPr>
          <a:xfrm>
            <a:off x="548640" y="190902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</p:spPr>
        <p:txBody>
          <a:bodyPr/>
          <a:lstStyle/>
          <a:p>
            <a:pPr>
              <a:lnSpc>
                <a:spcPct val="108000"/>
              </a:lnSpc>
            </a:pPr>
            <a:endParaRPr lang="en-US" sz="1250" dirty="0"/>
          </a:p>
        </p:txBody>
      </p:sp>
      <p:sp>
        <p:nvSpPr>
          <p:cNvPr id="26" name="Shape 7"/>
          <p:cNvSpPr/>
          <p:nvPr/>
        </p:nvSpPr>
        <p:spPr>
          <a:xfrm>
            <a:off x="6172200" y="190902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E9EEFC"/>
          </a:solidFill>
        </p:spPr>
      </p:sp>
      <p:sp>
        <p:nvSpPr>
          <p:cNvPr id="27" name="Text 8"/>
          <p:cNvSpPr txBox="1"/>
          <p:nvPr/>
        </p:nvSpPr>
        <p:spPr>
          <a:xfrm>
            <a:off x="804672" y="1982180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 smtClean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
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 Data, shows only fixed postings on fixed sites</a:t>
            </a:r>
            <a:endParaRPr lang="en-US" sz="1150" dirty="0"/>
          </a:p>
        </p:txBody>
      </p:sp>
      <p:sp>
        <p:nvSpPr>
          <p:cNvPr id="28" name="Text 9"/>
          <p:cNvSpPr txBox="1"/>
          <p:nvPr/>
        </p:nvSpPr>
        <p:spPr>
          <a:xfrm>
            <a:off x="6428232" y="1982180"/>
            <a:ext cx="48828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smtClean="0">
                <a:solidFill>
                  <a:srgbClr val="1E2761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Clustered Data, Watches maximum sites to fetch immediate job postings to dashboard 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Job Blitz turns nine steps into one workflow.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0007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Blitz actively watches Job postings on many </a:t>
            </a:r>
            <a:r>
              <a:rPr lang="en-US" sz="1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lang="en-US" sz="15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rusted sites(LinkedIn, Greenhouse, Indeed etc.), MNC official carrier pages fetches them to your dashboard, scores </a:t>
            </a:r>
            <a:r>
              <a:rPr lang="en-US" sz="1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fit, finds the gaps, builds your prep plan, tailors your documents, and tracks the outcome </a:t>
            </a:r>
            <a:r>
              <a:rPr lang="en-US" sz="15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/home/claude/jobblitz/icon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519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3383280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Phone-first AI 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and voice input, backed by an AI pipeline built for rapid, on-the-go interaction.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24528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9" name="Image 1" descr="/home/claude/jobblitz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36059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4224528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scoring 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and readiness scores you can actually trace back to evidence.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2" name="Image 2" descr="/home/claude/jobblitz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5201839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5065776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workspace 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info, prep, documents, and status 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together in one place.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766560" y="2494026"/>
            <a:ext cx="1463040" cy="98755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41280" y="2494026"/>
            <a:ext cx="1463040" cy="98755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766560" y="4839462"/>
            <a:ext cx="1463040" cy="98755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241280" y="4839462"/>
            <a:ext cx="1463040" cy="98755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86600" y="2606040"/>
            <a:ext cx="640080" cy="64008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19" name="Image 3" descr="/home/claude/jobblitz/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276606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744200" y="2606040"/>
            <a:ext cx="640080" cy="64008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1" name="Image 4" descr="/home/claude/jobblitz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4220" y="2766060"/>
            <a:ext cx="320040" cy="3200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086600" y="5074920"/>
            <a:ext cx="640080" cy="64008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3" name="Image 5" descr="/home/claude/jobblitz/icons/file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6620" y="5234940"/>
            <a:ext cx="320040" cy="32004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0744200" y="5074920"/>
            <a:ext cx="640080" cy="64008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5" name="Image 6" descr="/home/claude/jobblitz/icons/comment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4220" y="5234940"/>
            <a:ext cx="320040" cy="32004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641080" y="35661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7" name="Image 7" descr="/home/claude/jobblitz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3863340"/>
            <a:ext cx="594360" cy="5943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046720" y="48920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WORKSPACE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THE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Everything the candidate needs, right below the job description.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83326" y="1207008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Mobile-first: one screen </a:t>
            </a:r>
            <a:r>
              <a:rPr lang="en-US" sz="1300" b="1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3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JD in, requirements and a personalized roadmap out.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11" y="1938525"/>
            <a:ext cx="2409689" cy="453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540" y="1938527"/>
            <a:ext cx="2403020" cy="45359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72" y="1938526"/>
            <a:ext cx="2458800" cy="45359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938524"/>
            <a:ext cx="2477118" cy="4536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686" y="-343878"/>
            <a:ext cx="3071234" cy="63837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DECIDES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 explainable score, not a black box.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3452" y="2711471"/>
            <a:ext cx="53949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Job Intelligence </a:t>
            </a:r>
            <a:r>
              <a:rPr lang="en-US" sz="14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 the skills, responsibilities, and keywords a role actually needs.
</a:t>
            </a: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Skill Gap Engine </a:t>
            </a:r>
            <a:r>
              <a:rPr lang="en-US" sz="14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that to your profile and ranks what's missing by how much it matters </a:t>
            </a:r>
            <a:r>
              <a:rPr lang="en-US" sz="14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4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just what's missing.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6046" y="4544843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F956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8926" y="4544843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Missing: Kubernetes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46446" y="4544843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6046" y="5166635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8926" y="5166635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Weak: System Design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6446" y="5166635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6046" y="5788427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6E77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8926" y="5788427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Missing: Public Speaking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46446" y="5788427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26665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8274" y="1627632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E4E8F5"/>
          </a:solidFill>
        </p:spPr>
      </p:sp>
      <p:sp>
        <p:nvSpPr>
          <p:cNvPr id="16" name="Shape 14"/>
          <p:cNvSpPr/>
          <p:nvPr/>
        </p:nvSpPr>
        <p:spPr>
          <a:xfrm>
            <a:off x="546046" y="1628047"/>
            <a:ext cx="3708806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</p:spPr>
      </p:sp>
      <p:sp>
        <p:nvSpPr>
          <p:cNvPr id="17" name="Text 15"/>
          <p:cNvSpPr txBox="1"/>
          <p:nvPr/>
        </p:nvSpPr>
        <p:spPr>
          <a:xfrm>
            <a:off x="4341803" y="1636909"/>
            <a:ext cx="914400" cy="38404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78/100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6046" y="204216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Readiness 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0858" y="2395865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E4E8F5"/>
          </a:solidFill>
        </p:spPr>
      </p:sp>
      <p:sp>
        <p:nvSpPr>
          <p:cNvPr id="20" name="Shape 18"/>
          <p:cNvSpPr/>
          <p:nvPr/>
        </p:nvSpPr>
        <p:spPr>
          <a:xfrm>
            <a:off x="540858" y="2395865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9564F"/>
          </a:solidFill>
        </p:spPr>
      </p:sp>
      <p:sp>
        <p:nvSpPr>
          <p:cNvPr id="21" name="Text 19"/>
          <p:cNvSpPr txBox="1"/>
          <p:nvPr/>
        </p:nvSpPr>
        <p:spPr>
          <a:xfrm>
            <a:off x="4289898" y="2395865"/>
            <a:ext cx="914400" cy="38404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65/100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550429" y="602845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number traces back to a sentence in the job description </a:t>
            </a:r>
            <a:r>
              <a:rPr lang="en-US" sz="1250" i="1" dirty="0" smtClean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250" i="1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a guess.</a:t>
            </a:r>
            <a:endParaRPr lang="en-US" sz="125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CREATIVE PHONE USE &amp; 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Camera and microphone, working for the candidate.</a:t>
            </a:r>
            <a:endParaRPr lang="en-US" sz="2600" dirty="0"/>
          </a:p>
        </p:txBody>
      </p:sp>
      <p:sp>
        <p:nvSpPr>
          <p:cNvPr id="5" name="Card 1"/>
          <p:cNvSpPr/>
          <p:nvPr/>
        </p:nvSpPr>
        <p:spPr>
          <a:xfrm>
            <a:off x="895818" y="1442302"/>
            <a:ext cx="2840845" cy="238789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6" name="Icon Circle 1"/>
          <p:cNvSpPr/>
          <p:nvPr/>
        </p:nvSpPr>
        <p:spPr>
          <a:xfrm>
            <a:off x="1977085" y="1638082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/home/claude/jobblitz/icons/chartli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677" y="1802674"/>
            <a:ext cx="329184" cy="329184"/>
          </a:xfrm>
          <a:prstGeom prst="rect">
            <a:avLst/>
          </a:prstGeom>
        </p:spPr>
      </p:pic>
      <p:sp>
        <p:nvSpPr>
          <p:cNvPr id="8" name="Card Title 1"/>
          <p:cNvSpPr txBox="1"/>
          <p:nvPr/>
        </p:nvSpPr>
        <p:spPr>
          <a:xfrm>
            <a:off x="683602" y="2207295"/>
            <a:ext cx="3222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HackTracker Data </a:t>
            </a:r>
            <a:r>
              <a:rPr lang="en-US" sz="1600" b="1" dirty="0" smtClean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Captured</a:t>
            </a:r>
            <a:endParaRPr lang="en-US" sz="1600" dirty="0"/>
          </a:p>
        </p:txBody>
      </p:sp>
      <p:sp>
        <p:nvSpPr>
          <p:cNvPr id="9" name="Card Text 1"/>
          <p:cNvSpPr txBox="1"/>
          <p:nvPr/>
        </p:nvSpPr>
        <p:spPr>
          <a:xfrm>
            <a:off x="943301" y="2504312"/>
            <a:ext cx="2783738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Camera, microphone, and on-device AI activity, recorded by HackTracker as measured device data.</a:t>
            </a:r>
            <a:endParaRPr lang="en-US" sz="1300" dirty="0"/>
          </a:p>
        </p:txBody>
      </p:sp>
      <p:sp>
        <p:nvSpPr>
          <p:cNvPr id="10" name="Card 2"/>
          <p:cNvSpPr/>
          <p:nvPr/>
        </p:nvSpPr>
        <p:spPr>
          <a:xfrm>
            <a:off x="4621530" y="1442302"/>
            <a:ext cx="2721416" cy="238789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1" name="Icon Circle 2"/>
          <p:cNvSpPr/>
          <p:nvPr/>
        </p:nvSpPr>
        <p:spPr>
          <a:xfrm>
            <a:off x="5653054" y="1636776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12" name="Image 1" descr="/home/claude/jobblitz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46" y="1811165"/>
            <a:ext cx="329184" cy="329184"/>
          </a:xfrm>
          <a:prstGeom prst="rect">
            <a:avLst/>
          </a:prstGeom>
        </p:spPr>
      </p:pic>
      <p:sp>
        <p:nvSpPr>
          <p:cNvPr id="13" name="Card Title 2"/>
          <p:cNvSpPr txBox="1"/>
          <p:nvPr/>
        </p:nvSpPr>
        <p:spPr>
          <a:xfrm>
            <a:off x="4484522" y="2207295"/>
            <a:ext cx="3222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On-Device AI-Vision</a:t>
            </a:r>
            <a:endParaRPr lang="en-US" sz="1600" dirty="0"/>
          </a:p>
        </p:txBody>
      </p:sp>
      <p:sp>
        <p:nvSpPr>
          <p:cNvPr id="14" name="Card Text 2"/>
          <p:cNvSpPr txBox="1"/>
          <p:nvPr/>
        </p:nvSpPr>
        <p:spPr>
          <a:xfrm>
            <a:off x="4590369" y="2516885"/>
            <a:ext cx="2783738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usage for scanning flyers and screens locally, turning them into a posting the AI can read.</a:t>
            </a:r>
            <a:endParaRPr lang="en-US" sz="1300" dirty="0"/>
          </a:p>
        </p:txBody>
      </p:sp>
      <p:sp>
        <p:nvSpPr>
          <p:cNvPr id="15" name="Card 3"/>
          <p:cNvSpPr/>
          <p:nvPr/>
        </p:nvSpPr>
        <p:spPr>
          <a:xfrm>
            <a:off x="8201673" y="1451939"/>
            <a:ext cx="2890126" cy="2379891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6" name="Icon Circle 3"/>
          <p:cNvSpPr/>
          <p:nvPr/>
        </p:nvSpPr>
        <p:spPr>
          <a:xfrm>
            <a:off x="9307522" y="1647719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2" descr="/home/claude/jobblitz/icons/commen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114" y="1812311"/>
            <a:ext cx="329184" cy="32918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544" y="3956352"/>
            <a:ext cx="2721416" cy="2901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Card Title 3"/>
          <p:cNvSpPr txBox="1"/>
          <p:nvPr/>
        </p:nvSpPr>
        <p:spPr>
          <a:xfrm>
            <a:off x="8053293" y="2213175"/>
            <a:ext cx="3222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Voice AI</a:t>
            </a:r>
            <a:endParaRPr lang="en-US" sz="1600" dirty="0"/>
          </a:p>
        </p:txBody>
      </p:sp>
      <p:sp>
        <p:nvSpPr>
          <p:cNvPr id="19" name="Card Text 3"/>
          <p:cNvSpPr txBox="1"/>
          <p:nvPr/>
        </p:nvSpPr>
        <p:spPr>
          <a:xfrm>
            <a:off x="8244837" y="2513949"/>
            <a:ext cx="2783738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Microphone usage for low-latency interview simulation, so mock interviews feel like the real thing.</a:t>
            </a:r>
            <a:endParaRPr lang="en-US" sz="13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14"/>
          <a:stretch/>
        </p:blipFill>
        <p:spPr>
          <a:xfrm>
            <a:off x="6655955" y="3954328"/>
            <a:ext cx="2783738" cy="29036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closed loop, not a checklist.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29888" y="2194560"/>
            <a:ext cx="3931920" cy="3931920"/>
          </a:xfrm>
          <a:prstGeom prst="ellipse">
            <a:avLst/>
          </a:prstGeom>
          <a:ln w="2540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766664" y="1865376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/home/claude/jobblitz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55768" y="12984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30358" y="2325323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9" name="Image 1" descr="/home/claude/jobblitz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950" y="2489915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19462" y="1758395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02756" y="3489951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2" name="Image 2" descr="/home/claude/jobblitz/icons/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348" y="3654543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91860" y="2923023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469235" y="4814316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15" name="Image 3" descr="/home/claude/jobblitz/icons/task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827" y="497890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58339" y="5527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439062" y="5678734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8" name="Image 4" descr="/home/claude/jobblitz/icons/rou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654" y="5843326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28166" y="6391966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094266" y="5678734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1" name="Image 5" descr="/home/claude/jobblitz/icons/file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858" y="5843326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783370" y="6391966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Tailor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4064092" y="4814316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4" name="Image 6" descr="/home/claude/jobblitz/icons/briefc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8684" y="497890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753196" y="5527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3830571" y="3489951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7" name="Image 7" descr="/home/claude/jobblitz/icons/chartli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5163" y="3654543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3519675" y="2923023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4502969" y="2325323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0" name="Image 8" descr="/home/claude/jobblitz/icons/sync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561" y="2489915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192073" y="1758395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&amp;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5528920" y="3593592"/>
            <a:ext cx="1133856" cy="1133856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3" name="Image 9" descr="/home/claude/jobblitz/icons/bol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2384" y="3877056"/>
            <a:ext cx="566928" cy="566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Everything a candidate needs, in one workspace.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822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03704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/home/claude/jobblitz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2335378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854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Job Intelligence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80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 skills, responsibilities, and keywords from any job description.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203704"/>
            <a:ext cx="548640" cy="54864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12" name="Image 1" descr="/home/claude/jobblitz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106" y="2335378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21854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&amp; Readiness Engine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2880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explainable fit score and application-readiness score.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203704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2" descr="/home/claude/jobblitz/icons/task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866" y="2335378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21854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Gap Engine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880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missing or weak skills and prioritizes them by importance.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261104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2" name="Image 3" descr="/home/claude/jobblitz/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6" y="4392778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42428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Preparation Roadmap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49377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actionable prep plan built for the specific role.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261104"/>
            <a:ext cx="548640" cy="548640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7" name="Image 4" descr="/home/claude/jobblitz/icons/filea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106" y="4392778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2428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 &amp; Cover Letter Tailoring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99432" y="49377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Adapts documents to the role while keeping facts accurate.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38160" y="40233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261104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2" name="Image 5" descr="/home/claude/jobblitz/icons/comment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5866" y="4392778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98280" y="424281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Copilot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394192" y="49377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Role-specific questions, plus AI-run mock interviews.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Everything a candidate needs, in one workspace.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822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30552" cy="329184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4732" y="2258568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/home/claude/jobblitz/icons/briefc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24231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3108960"/>
            <a:ext cx="18379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Workspace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17647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info, prep tasks, documents, and status </a:t>
            </a:r>
            <a:r>
              <a:rPr lang="en-US" sz="110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place.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80360" y="1965960"/>
            <a:ext cx="2130552" cy="329184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6452" y="2258568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12" name="Image 1" descr="/home/claude/jobblitz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4231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26664" y="3108960"/>
            <a:ext cx="18379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Tracker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3840480"/>
            <a:ext cx="17647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Deadlines, follow-ups, interviews, and outcomes, tracked.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12080" y="1965960"/>
            <a:ext cx="2130552" cy="329184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8172" y="2258568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2" descr="/home/claude/jobblitz/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24231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58384" y="3108960"/>
            <a:ext cx="18379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Phone-First AI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394960" y="3840480"/>
            <a:ext cx="17647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and voice input for fast, on-the-go interaction with the AI backend.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543800" y="1965960"/>
            <a:ext cx="2130552" cy="329184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79892" y="2258568"/>
            <a:ext cx="658368" cy="658368"/>
          </a:xfrm>
          <a:prstGeom prst="ellipse">
            <a:avLst/>
          </a:prstGeom>
          <a:solidFill>
            <a:srgbClr val="F9564F"/>
          </a:solidFill>
        </p:spPr>
      </p:sp>
      <p:pic>
        <p:nvPicPr>
          <p:cNvPr id="22" name="Image 3" descr="/home/claude/jobblitz/icons/lap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24231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690104" y="3108960"/>
            <a:ext cx="18379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Kit Workflow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726680" y="3840480"/>
            <a:ext cx="17647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Phone-Laptop Bridge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hands off to the laptop for document transfer and deep work.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875520" y="1965960"/>
            <a:ext cx="2130552" cy="329184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611612" y="2258568"/>
            <a:ext cx="658368" cy="658368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7" name="Image 4" descr="/home/claude/jobblitz/icons/sync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6204" y="242316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021824" y="3108960"/>
            <a:ext cx="18379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0058400" y="3840480"/>
            <a:ext cx="17647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 become insights that sharpen future recommendations.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lang="en-IN" alt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IMULATION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job posting. A workspace in under a minute.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54480" y="2240280"/>
            <a:ext cx="0" cy="310896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2103120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62456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2048256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E9EEFC"/>
          </a:solidFill>
        </p:spPr>
      </p:sp>
      <p:sp>
        <p:nvSpPr>
          <p:cNvPr id="8" name="Text 6"/>
          <p:cNvSpPr txBox="1"/>
          <p:nvPr/>
        </p:nvSpPr>
        <p:spPr>
          <a:xfrm>
            <a:off x="1965960" y="2048256"/>
            <a:ext cx="9601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0:05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9339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job link </a:t>
            </a:r>
            <a:r>
              <a:rPr lang="en-US" sz="13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Blitz parses role, seniority, and required skills.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62456" y="2880360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62456" y="2880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825496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E9EEFC"/>
          </a:solidFill>
        </p:spPr>
      </p:sp>
      <p:sp>
        <p:nvSpPr>
          <p:cNvPr id="13" name="Text 11"/>
          <p:cNvSpPr txBox="1"/>
          <p:nvPr/>
        </p:nvSpPr>
        <p:spPr>
          <a:xfrm>
            <a:off x="1965960" y="2825496"/>
            <a:ext cx="9601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0:12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77063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score computed against your profile: 78/100, explainable line by line.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62456" y="3657600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62456" y="3657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3602736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E9EEFC"/>
          </a:solidFill>
        </p:spPr>
      </p:sp>
      <p:sp>
        <p:nvSpPr>
          <p:cNvPr id="18" name="Text 16"/>
          <p:cNvSpPr txBox="1"/>
          <p:nvPr/>
        </p:nvSpPr>
        <p:spPr>
          <a:xfrm>
            <a:off x="1965960" y="3602736"/>
            <a:ext cx="9601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0:20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54787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Gaps surfaced and ranked </a:t>
            </a:r>
            <a:r>
              <a:rPr lang="en-US" sz="13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“Kubernetes” flagged as the top-priority gap.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62456" y="4434840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62456" y="4434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5960" y="4379976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E9EEFC"/>
          </a:solidFill>
        </p:spPr>
      </p:sp>
      <p:sp>
        <p:nvSpPr>
          <p:cNvPr id="23" name="Text 21"/>
          <p:cNvSpPr txBox="1"/>
          <p:nvPr/>
        </p:nvSpPr>
        <p:spPr>
          <a:xfrm>
            <a:off x="1965960" y="4379976"/>
            <a:ext cx="9601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0:35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432511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3-step prep roadmap and a tailored resume are generated.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362456" y="5212080"/>
            <a:ext cx="384048" cy="384048"/>
          </a:xfrm>
          <a:prstGeom prst="ellipse">
            <a:avLst/>
          </a:prstGeom>
          <a:solidFill>
            <a:srgbClr val="F956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62456" y="5212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65960" y="5157216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E9EEFC"/>
          </a:solidFill>
        </p:spPr>
      </p:sp>
      <p:sp>
        <p:nvSpPr>
          <p:cNvPr id="28" name="Text 26"/>
          <p:cNvSpPr txBox="1"/>
          <p:nvPr/>
        </p:nvSpPr>
        <p:spPr>
          <a:xfrm>
            <a:off x="1965960" y="5157216"/>
            <a:ext cx="9601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0:55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510235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questions are ready. The application is logged and tracked.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phone. Same tab. No spreadsheet in sight.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DEPTH · RELIABILITY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to stay fast, even under real AI workloads.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713232" cy="71323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5" name="Image 0" descr="/home/claude/jobblitz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692908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48716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blocks the UI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843784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Scraping, parsing, and AI calls run as Celery background jobs on </a:t>
            </a:r>
            <a:r>
              <a:rPr lang="en-US" sz="1250" dirty="0" err="1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 stays responsive while the heavy lifting happens off-thread.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713232" cy="71323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9" name="Image 1" descr="/home/claude/jobblitz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744468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53872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Local Ai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895344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 Tuned Llama power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pipeline, so extraction, scoring, tailoring, and interview prep can each lean on whichever model fits best.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713232" cy="71323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3" name="Image 2" descr="/home/claude/jobblitz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4796028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59028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Production-grade from day one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946904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with Alembic migrations, Dockerized for local dev, and continuously deployed to 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 with 16Gb ram with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managed </a:t>
            </a:r>
            <a:r>
              <a:rPr lang="en-US" sz="1250" dirty="0" smtClean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up to 10GB.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303520" cy="5303520"/>
          </a:xfrm>
          <a:prstGeom prst="ellipse">
            <a:avLst/>
          </a:prstGeom>
          <a:solidFill>
            <a:srgbClr val="2F3C7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418320" y="4206240"/>
            <a:ext cx="4572000" cy="4572000"/>
          </a:xfrm>
          <a:prstGeom prst="ellipse">
            <a:avLst/>
          </a:prstGeom>
          <a:solidFill>
            <a:srgbClr val="F9564F">
              <a:alpha val="22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706582" y="118872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BLITZ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1036289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Job hunting shouldn't feel like a second job.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phone. One workflow. Every application, blitzed.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7200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956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PRODUCT QUALITY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808912" y="4892040"/>
            <a:ext cx="2573870" cy="4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Sticky, Production-Ready, and built for Daily Active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0102" y="5322689"/>
            <a:ext cx="221874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Team </a:t>
            </a:r>
            <a:r>
              <a:rPr lang="en-US" dirty="0" smtClean="0">
                <a:solidFill>
                  <a:srgbClr val="FF0000"/>
                </a:solidFill>
              </a:rPr>
              <a:t>Red Hawks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1. Kompella Satya Rohan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2. </a:t>
            </a:r>
            <a:r>
              <a:rPr lang="en-US" sz="1600" dirty="0" err="1" smtClean="0">
                <a:solidFill>
                  <a:schemeClr val="bg1"/>
                </a:solidFill>
              </a:rPr>
              <a:t>Mavuri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Tarun</a:t>
            </a:r>
            <a:r>
              <a:rPr lang="en-US" sz="1600" dirty="0" smtClean="0">
                <a:solidFill>
                  <a:schemeClr val="bg1"/>
                </a:solidFill>
              </a:rPr>
              <a:t> Sai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1024</Words>
  <Application>Microsoft Office PowerPoint</Application>
  <PresentationFormat>Widescreen</PresentationFormat>
  <Paragraphs>173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19</cp:revision>
  <dcterms:created xsi:type="dcterms:W3CDTF">2026-09-21T04:21:00Z</dcterms:created>
  <dcterms:modified xsi:type="dcterms:W3CDTF">2026-09-21T17:31:51Z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84B768D8D9ED436B8F88741CFFA37314_12</vt:lpwstr>
  </property>
  <property fmtid="{D5CDD505-2E9C-101B-9397-08002B2CF9AE}" pid="4" name="_MarkAsFinal">
    <vt:bool>true</vt:bool>
  </property>
</Properties>
</file>